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BBF24"/>
                </a:solidFill>
                <a:latin typeface="JetBrains Mono"/>
              </a:rPr>
              <a:t>PIPELINE / 01 · INTRO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>
                <a:solidFill>
                  <a:srgbClr val="F5F1E8"/>
                </a:solidFill>
                <a:latin typeface="Inter"/>
              </a:rPr>
              <a:t>Construction Cost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C7C2B3"/>
                </a:solidFill>
                <a:latin typeface="Inter"/>
              </a:rPr>
              <a:t>ระบบรวบรวมราคาวัสดุก่อสร้างไทยแบบ multi-source — ตั้งแต่ Input ของ 10 แหล่งข้อมูล (รัฐ + ค้าปลีก) ผ่าน acquisition pipeline ลง Cloudflare KV, เปิดเป็น public REST + UI เปรียบเทียบราคา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108960"/>
            <a:ext cx="822960" cy="246888"/>
          </a:xfrm>
          <a:prstGeom prst="roundRect">
            <a:avLst>
              <a:gd name="adj" fmla="val 50000"/>
            </a:avLst>
          </a:prstGeom>
          <a:solidFill>
            <a:srgbClr val="2A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900" b="1">
                <a:solidFill>
                  <a:srgbClr val="FBBF24"/>
                </a:solidFill>
                <a:latin typeface="JetBrains Mono"/>
              </a:rPr>
              <a:t>10 SOURCES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3108960"/>
            <a:ext cx="978408" cy="246888"/>
          </a:xfrm>
          <a:prstGeom prst="roundRect">
            <a:avLst>
              <a:gd name="adj" fmla="val 50000"/>
            </a:avLst>
          </a:prstGeom>
          <a:solidFill>
            <a:srgbClr val="0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900" b="1">
                <a:solidFill>
                  <a:srgbClr val="5EEAD4"/>
                </a:solidFill>
                <a:latin typeface="JetBrains Mono"/>
              </a:rPr>
              <a:t>17 MATERIALS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32888" y="3108960"/>
            <a:ext cx="978408" cy="246888"/>
          </a:xfrm>
          <a:prstGeom prst="roundRect">
            <a:avLst>
              <a:gd name="adj" fmla="val 50000"/>
            </a:avLst>
          </a:prstGeom>
          <a:solidFill>
            <a:srgbClr val="2A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900" b="1">
                <a:solidFill>
                  <a:srgbClr val="FBBF24"/>
                </a:solidFill>
                <a:latin typeface="JetBrains Mono"/>
              </a:rPr>
              <a:t>77 PROVINCES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2736" y="3108960"/>
            <a:ext cx="1444752" cy="246888"/>
          </a:xfrm>
          <a:prstGeom prst="roundRect">
            <a:avLst>
              <a:gd name="adj" fmla="val 50000"/>
            </a:avLst>
          </a:prstGeom>
          <a:solidFill>
            <a:srgbClr val="22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900" b="1">
                <a:solidFill>
                  <a:srgbClr val="C7C2B3"/>
                </a:solidFill>
                <a:latin typeface="JetBrains Mono"/>
              </a:rPr>
              <a:t>CLOUDFLARE WORKERS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38928" y="3108960"/>
            <a:ext cx="822960" cy="246888"/>
          </a:xfrm>
          <a:prstGeom prst="roundRect">
            <a:avLst>
              <a:gd name="adj" fmla="val 50000"/>
            </a:avLst>
          </a:prstGeom>
          <a:solidFill>
            <a:srgbClr val="22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900" b="1">
                <a:solidFill>
                  <a:srgbClr val="C7C2B3"/>
                </a:solidFill>
                <a:latin typeface="JetBrains Mono"/>
              </a:rPr>
              <a:t>NEXT.JS 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033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5F1E8"/>
                </a:solidFill>
                <a:latin typeface="Inter"/>
              </a:rPr>
              <a:t>วาระของสไลด์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14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  <a:latin typeface="JetBrains Mon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114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C7C2B3"/>
                </a:solidFill>
                <a:latin typeface="Inter"/>
              </a:rPr>
              <a:t>Overview — สถาปัตยกรรม end-to-end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616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  <a:latin typeface="JetBrains Mono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36168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C7C2B3"/>
                </a:solidFill>
                <a:latin typeface="Inter"/>
              </a:rPr>
              <a:t>Input Layer — 10 sources, 17 materials, 77 provinces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60857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  <a:latin typeface="JetBrains Mono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608576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C7C2B3"/>
                </a:solidFill>
                <a:latin typeface="Inter"/>
              </a:rPr>
              <a:t>Acquisition — 4 กลยุทธ์เก็บราคา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85546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  <a:latin typeface="JetBrains Mono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85546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C7C2B3"/>
                </a:solidFill>
                <a:latin typeface="Inter"/>
              </a:rPr>
              <a:t>Canonicalization — apples-to-apples (Option B)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1023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  <a:latin typeface="JetBrains Mono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1023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C7C2B3"/>
                </a:solidFill>
                <a:latin typeface="Inter"/>
              </a:rPr>
              <a:t>Storage — KV schema + TTL + weekly snapshots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3492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  <a:latin typeface="JetBrains Mono"/>
              </a:rP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349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C7C2B3"/>
                </a:solidFill>
                <a:latin typeface="Inter"/>
              </a:rPr>
              <a:t>API Layer — public REST + admin endpoints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59612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  <a:latin typeface="JetBrains Mono"/>
              </a:rPr>
              <a:t>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5961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C7C2B3"/>
                </a:solidFill>
                <a:latin typeface="Inter"/>
              </a:rPr>
              <a:t>Consumer Layer — UI pages ทั้งหมด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84301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  <a:latin typeface="JetBrains Mono"/>
              </a:rPr>
              <a:t>09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843016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C7C2B3"/>
                </a:solidFill>
                <a:latin typeface="Inter"/>
              </a:rPr>
              <a:t>Problems &amp; Mitigations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08990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  <a:latin typeface="JetBrains Mono"/>
              </a:rPr>
              <a:t>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60899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C7C2B3"/>
                </a:solidFill>
                <a:latin typeface="Inter"/>
              </a:rPr>
              <a:t>Roadmap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D7A72"/>
                </a:solidFill>
                <a:latin typeface="JetBrains Mono"/>
              </a:rPr>
              <a:t>construction-cost-engine · pipeline deck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D7A72"/>
                </a:solidFill>
                <a:latin typeface="JetBrains Mono"/>
              </a:rPr>
              <a:t>01 / 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0"/>
            <a:ext cx="1219169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BBF24"/>
                </a:solidFill>
                <a:latin typeface="JetBrains Mono"/>
              </a:rPr>
              <a:t>PIPELINE / 02 ·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5F1E8"/>
                </a:solidFill>
                <a:latin typeface="Inter"/>
              </a:rPr>
              <a:t>System at a Glance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965960" cy="1508760"/>
          </a:xfrm>
          <a:prstGeom prst="roundRect">
            <a:avLst>
              <a:gd name="adj" fmla="val 6000"/>
            </a:avLst>
          </a:prstGeom>
          <a:solidFill>
            <a:srgbClr val="1F2630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3232" y="1965960"/>
            <a:ext cx="434340" cy="246888"/>
          </a:xfrm>
          <a:prstGeom prst="roundRect">
            <a:avLst>
              <a:gd name="adj" fmla="val 50000"/>
            </a:avLst>
          </a:prstGeom>
          <a:solidFill>
            <a:srgbClr val="2A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900" b="1">
                <a:solidFill>
                  <a:srgbClr val="FBBF24"/>
                </a:solidFill>
                <a:latin typeface="JetBrains Mono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331720"/>
            <a:ext cx="16367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F1E8"/>
                </a:solidFill>
                <a:latin typeface="Inter"/>
              </a:rPr>
              <a:t>10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697480"/>
            <a:ext cx="163677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7C2B3"/>
                </a:solidFill>
                <a:latin typeface="JetBrains Mono"/>
              </a:rPr>
              <a:t>3 Government
7 Modern Trade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23744" y="2468880"/>
            <a:ext cx="118872" cy="274320"/>
          </a:xfrm>
          <a:prstGeom prst="rightArrow">
            <a:avLst/>
          </a:prstGeom>
          <a:solidFill>
            <a:srgbClr val="2A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651760" y="1828800"/>
            <a:ext cx="1965960" cy="1508760"/>
          </a:xfrm>
          <a:prstGeom prst="roundRect">
            <a:avLst>
              <a:gd name="adj" fmla="val 6000"/>
            </a:avLst>
          </a:prstGeom>
          <a:solidFill>
            <a:srgbClr val="1F2630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16352" y="1965960"/>
            <a:ext cx="589788" cy="246888"/>
          </a:xfrm>
          <a:prstGeom prst="roundRect">
            <a:avLst>
              <a:gd name="adj" fmla="val 50000"/>
            </a:avLst>
          </a:prstGeom>
          <a:solidFill>
            <a:srgbClr val="2A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900" b="1">
                <a:solidFill>
                  <a:srgbClr val="FBBF24"/>
                </a:solidFill>
                <a:latin typeface="JetBrains Mono"/>
              </a:rPr>
              <a:t>ACQUIRE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16352" y="2331720"/>
            <a:ext cx="16367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F1E8"/>
                </a:solidFill>
                <a:latin typeface="Inter"/>
              </a:rPr>
              <a:t>4 Strategies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16352" y="2697480"/>
            <a:ext cx="163677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7C2B3"/>
                </a:solidFill>
                <a:latin typeface="JetBrains Mono"/>
              </a:rPr>
              <a:t>PDF · JSON API
ScrapingBee · Manual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626864" y="2468880"/>
            <a:ext cx="118872" cy="274320"/>
          </a:xfrm>
          <a:prstGeom prst="rightArrow">
            <a:avLst/>
          </a:prstGeom>
          <a:solidFill>
            <a:srgbClr val="2A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754880" y="1828800"/>
            <a:ext cx="1965960" cy="1508760"/>
          </a:xfrm>
          <a:prstGeom prst="roundRect">
            <a:avLst>
              <a:gd name="adj" fmla="val 6000"/>
            </a:avLst>
          </a:prstGeom>
          <a:solidFill>
            <a:srgbClr val="1F2630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19472" y="1965960"/>
            <a:ext cx="745236" cy="246888"/>
          </a:xfrm>
          <a:prstGeom prst="roundRect">
            <a:avLst>
              <a:gd name="adj" fmla="val 50000"/>
            </a:avLst>
          </a:prstGeom>
          <a:solidFill>
            <a:srgbClr val="2A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900" b="1">
                <a:solidFill>
                  <a:srgbClr val="FBBF24"/>
                </a:solidFill>
                <a:latin typeface="JetBrains Mono"/>
              </a:rPr>
              <a:t>NORMALIZE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9472" y="2331720"/>
            <a:ext cx="16367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F1E8"/>
                </a:solidFill>
                <a:latin typeface="Inter"/>
              </a:rPr>
              <a:t>Canonicalize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2697480"/>
            <a:ext cx="163677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7C2B3"/>
                </a:solidFill>
                <a:latin typeface="JetBrains Mono"/>
              </a:rPr>
              <a:t>brand/size/grade
filter (Option B)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729984" y="2468880"/>
            <a:ext cx="118872" cy="274320"/>
          </a:xfrm>
          <a:prstGeom prst="rightArrow">
            <a:avLst/>
          </a:prstGeom>
          <a:solidFill>
            <a:srgbClr val="2A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0" y="1828800"/>
            <a:ext cx="1965960" cy="1508760"/>
          </a:xfrm>
          <a:prstGeom prst="roundRect">
            <a:avLst>
              <a:gd name="adj" fmla="val 6000"/>
            </a:avLst>
          </a:prstGeom>
          <a:solidFill>
            <a:srgbClr val="1F2630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022592" y="1965960"/>
            <a:ext cx="434340" cy="246888"/>
          </a:xfrm>
          <a:prstGeom prst="roundRect">
            <a:avLst>
              <a:gd name="adj" fmla="val 50000"/>
            </a:avLst>
          </a:prstGeom>
          <a:solidFill>
            <a:srgbClr val="2A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900" b="1">
                <a:solidFill>
                  <a:srgbClr val="FBBF24"/>
                </a:solidFill>
                <a:latin typeface="JetBrains Mono"/>
              </a:rPr>
              <a:t>STORE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2331720"/>
            <a:ext cx="16367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F1E8"/>
                </a:solidFill>
                <a:latin typeface="Inter"/>
              </a:rPr>
              <a:t>Cloudflare KV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2592" y="2697480"/>
            <a:ext cx="163677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7C2B3"/>
                </a:solidFill>
                <a:latin typeface="JetBrains Mono"/>
              </a:rPr>
              <a:t>30-day TTL
weekly snapshot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833104" y="2468880"/>
            <a:ext cx="118872" cy="274320"/>
          </a:xfrm>
          <a:prstGeom prst="rightArrow">
            <a:avLst/>
          </a:prstGeom>
          <a:solidFill>
            <a:srgbClr val="2A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961120" y="1828800"/>
            <a:ext cx="1965960" cy="1508760"/>
          </a:xfrm>
          <a:prstGeom prst="roundRect">
            <a:avLst>
              <a:gd name="adj" fmla="val 6000"/>
            </a:avLst>
          </a:prstGeom>
          <a:solidFill>
            <a:srgbClr val="1F2630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25712" y="1965960"/>
            <a:ext cx="434340" cy="246888"/>
          </a:xfrm>
          <a:prstGeom prst="roundRect">
            <a:avLst>
              <a:gd name="adj" fmla="val 50000"/>
            </a:avLst>
          </a:prstGeom>
          <a:solidFill>
            <a:srgbClr val="2A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900" b="1">
                <a:solidFill>
                  <a:srgbClr val="FBBF24"/>
                </a:solidFill>
                <a:latin typeface="JetBrains Mono"/>
              </a:rPr>
              <a:t>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25712" y="2331720"/>
            <a:ext cx="16367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F1E8"/>
                </a:solidFill>
                <a:latin typeface="Inter"/>
              </a:rPr>
              <a:t>REST + UI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5712" y="2697480"/>
            <a:ext cx="163677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7C2B3"/>
                </a:solidFill>
                <a:latin typeface="JetBrains Mono"/>
              </a:rPr>
              <a:t>/api/prices
/compare-sources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931920"/>
            <a:ext cx="3657600" cy="2011680"/>
          </a:xfrm>
          <a:prstGeom prst="roundRect">
            <a:avLst>
              <a:gd name="adj" fmla="val 6000"/>
            </a:avLst>
          </a:prstGeom>
          <a:solidFill>
            <a:srgbClr val="1F2630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1148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F1E8"/>
                </a:solidFill>
                <a:latin typeface="Inter"/>
              </a:rPr>
              <a:t>Why this exists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57200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C7C2B3"/>
                </a:solidFill>
                <a:latin typeface="Inter"/>
              </a:rPr>
              <a:t>ราคาวัสดุไทยกระจาย — รัฐ (CGD/TPSO/DIT) + ค้าปลีก (HomePro/SCG/Dohome ฯลฯ). ต้องรวมเพื่อทำ BoQ ที่อ้างอิงได้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3931920"/>
            <a:ext cx="3657600" cy="2011680"/>
          </a:xfrm>
          <a:prstGeom prst="roundRect">
            <a:avLst>
              <a:gd name="adj" fmla="val 6000"/>
            </a:avLst>
          </a:prstGeom>
          <a:solidFill>
            <a:srgbClr val="1F2630"/>
          </a:solidFill>
          <a:ln w="1905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26280" y="41148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F1E8"/>
                </a:solidFill>
                <a:latin typeface="Inter"/>
              </a:rPr>
              <a:t>Why Cloudflare Workers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280" y="457200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C7C2B3"/>
                </a:solidFill>
                <a:latin typeface="Inter"/>
              </a:rPr>
              <a:t>Edge SSR + KV cache + Browser Rendering + Cron triggers ในที่เดียว. ไม่มี cold start, scale-to-zero, ราคาน้อย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0" y="3931920"/>
            <a:ext cx="3657600" cy="2011680"/>
          </a:xfrm>
          <a:prstGeom prst="roundRect">
            <a:avLst>
              <a:gd name="adj" fmla="val 6000"/>
            </a:avLst>
          </a:prstGeom>
          <a:solidFill>
            <a:srgbClr val="1F2630"/>
          </a:solidFill>
          <a:ln w="1905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75320" y="41148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F1E8"/>
                </a:solidFill>
                <a:latin typeface="Inter"/>
              </a:rPr>
              <a:t>Why TTL = 30 days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457200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C7C2B3"/>
                </a:solidFill>
                <a:latin typeface="Inter"/>
              </a:rPr>
              <a:t>ราคาประเมินทางการเปลี่ยน รายไตรมาส. ดึงบ่อยกว่านี้ = เปลือง credit + ไม่ได้ value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D7A72"/>
                </a:solidFill>
                <a:latin typeface="JetBrains Mono"/>
              </a:rPr>
              <a:t>construction-cost-engine · pipeline deck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D7A72"/>
                </a:solidFill>
                <a:latin typeface="JetBrains Mono"/>
              </a:rPr>
              <a:t>02 / 10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0"/>
            <a:ext cx="2438339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BBF24"/>
                </a:solidFill>
                <a:latin typeface="JetBrains Mono"/>
              </a:rPr>
              <a:t>PIPELINE / 03 · INPUT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5F1E8"/>
                </a:solidFill>
                <a:latin typeface="Inter"/>
              </a:rPr>
              <a:t>10 Sources × 17 Materials × 77 Provinces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486400" cy="3291840"/>
          </a:xfrm>
          <a:prstGeom prst="roundRect">
            <a:avLst>
              <a:gd name="adj" fmla="val 6000"/>
            </a:avLst>
          </a:prstGeom>
          <a:solidFill>
            <a:srgbClr val="1F2630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486400" cy="3291840"/>
          </a:xfrm>
          <a:prstGeom prst="roundRect">
            <a:avLst>
              <a:gd name="adj" fmla="val 6000"/>
            </a:avLst>
          </a:prstGeom>
          <a:solidFill>
            <a:srgbClr val="1F2630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BBF24"/>
                </a:solidFill>
                <a:latin typeface="Inter"/>
              </a:rPr>
              <a:t>🏛 Government (3)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BBF24"/>
                </a:solidFill>
                <a:latin typeface="JetBrains Mono"/>
              </a:rPr>
              <a:t>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4231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BBF24"/>
                </a:solidFill>
                <a:latin typeface="JetBrains Mono"/>
              </a:rPr>
              <a:t>FORMAT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4231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BBF24"/>
                </a:solidFill>
                <a:latin typeface="JetBrains Mono"/>
              </a:rPr>
              <a:t>UPDATE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5F1E8"/>
                </a:solidFill>
                <a:latin typeface="Inter"/>
              </a:rPr>
              <a:t>TPSO (CMI Index)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78892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7C2B3"/>
                </a:solidFill>
                <a:latin typeface="JetBrains Mono"/>
              </a:rPr>
              <a:t>PDF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7889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7C2B3"/>
                </a:solidFill>
                <a:latin typeface="Inter"/>
              </a:rPr>
              <a:t>Monthly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17296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5F1E8"/>
                </a:solidFill>
                <a:latin typeface="Inter"/>
              </a:rPr>
              <a:t>CGD (กรมบัญชีกลาง)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17296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7C2B3"/>
                </a:solidFill>
                <a:latin typeface="JetBrains Mono"/>
              </a:rPr>
              <a:t>PDF / blocked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17296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7C2B3"/>
                </a:solidFill>
                <a:latin typeface="Inter"/>
              </a:rPr>
              <a:t>Quarterly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557015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5F1E8"/>
                </a:solidFill>
                <a:latin typeface="Inter"/>
              </a:rPr>
              <a:t>DIT (ก.พาณิชย์)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557015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7C2B3"/>
                </a:solidFill>
                <a:latin typeface="JetBrains Mono"/>
              </a:rPr>
              <a:t>HTML / down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557015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7C2B3"/>
                </a:solidFill>
                <a:latin typeface="Inter"/>
              </a:rPr>
              <a:t>Daily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976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D7A72"/>
                </a:solidFill>
                <a:latin typeface="Inter"/>
              </a:rPr>
              <a:t>→ ราคาอ้างอิงทางการ ใช้ใน BoQ จริง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965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5EEAD4"/>
                </a:solidFill>
                <a:latin typeface="Inter"/>
              </a:rPr>
              <a:t>🛒 Modern Trade (7)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4231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BBF24"/>
                </a:solidFill>
                <a:latin typeface="JetBrains Mono"/>
              </a:rPr>
              <a:t>SOURCE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242316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BBF24"/>
                </a:solidFill>
                <a:latin typeface="JetBrains Mono"/>
              </a:rPr>
              <a:t>FORMAT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24231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BBF24"/>
                </a:solidFill>
                <a:latin typeface="JetBrains Mono"/>
              </a:rPr>
              <a:t>STATUS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27432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1E8"/>
                </a:solidFill>
                <a:latin typeface="Inter"/>
              </a:rPr>
              <a:t>HomePro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274320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7C2B3"/>
                </a:solidFill>
                <a:latin typeface="JetBrains Mono"/>
              </a:rPr>
              <a:t>JSON suggest.jsp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332720" y="2743200"/>
            <a:ext cx="356616" cy="246888"/>
          </a:xfrm>
          <a:prstGeom prst="roundRect">
            <a:avLst>
              <a:gd name="adj" fmla="val 50000"/>
            </a:avLst>
          </a:prstGeom>
          <a:solidFill>
            <a:srgbClr val="0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900" b="1">
                <a:solidFill>
                  <a:srgbClr val="5EEAD4"/>
                </a:solidFill>
                <a:latin typeface="JetBrains Mono"/>
              </a:rPr>
              <a:t>LIVE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0540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1E8"/>
                </a:solidFill>
                <a:latin typeface="Inter"/>
              </a:rPr>
              <a:t>MegaHome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305409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7C2B3"/>
                </a:solidFill>
                <a:latin typeface="JetBrains Mono"/>
              </a:rPr>
              <a:t>JSON suggest.jsp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332720" y="3054096"/>
            <a:ext cx="356616" cy="246888"/>
          </a:xfrm>
          <a:prstGeom prst="roundRect">
            <a:avLst>
              <a:gd name="adj" fmla="val 50000"/>
            </a:avLst>
          </a:prstGeom>
          <a:solidFill>
            <a:srgbClr val="0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900" b="1">
                <a:solidFill>
                  <a:srgbClr val="5EEAD4"/>
                </a:solidFill>
                <a:latin typeface="JetBrains Mono"/>
              </a:rPr>
              <a:t>LIVE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336499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1E8"/>
                </a:solidFill>
                <a:latin typeface="Inter"/>
              </a:rPr>
              <a:t>Thai Watsadu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520" y="336499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7C2B3"/>
                </a:solidFill>
                <a:latin typeface="JetBrains Mono"/>
              </a:rPr>
              <a:t>SPA + CF block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32720" y="3364992"/>
            <a:ext cx="512064" cy="246888"/>
          </a:xfrm>
          <a:prstGeom prst="roundRect">
            <a:avLst>
              <a:gd name="adj" fmla="val 50000"/>
            </a:avLst>
          </a:prstGeom>
          <a:solidFill>
            <a:srgbClr val="2A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900" b="1">
                <a:solidFill>
                  <a:srgbClr val="FCA5A5"/>
                </a:solidFill>
                <a:latin typeface="JetBrains Mono"/>
              </a:rPr>
              <a:t>MANUAL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3675887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1E8"/>
                </a:solidFill>
                <a:latin typeface="Inter"/>
              </a:rPr>
              <a:t>Global House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32520" y="3675887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7C2B3"/>
                </a:solidFill>
                <a:latin typeface="JetBrains Mono"/>
              </a:rPr>
              <a:t>SPA + XHR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332720" y="3675887"/>
            <a:ext cx="512064" cy="246888"/>
          </a:xfrm>
          <a:prstGeom prst="roundRect">
            <a:avLst>
              <a:gd name="adj" fmla="val 50000"/>
            </a:avLst>
          </a:prstGeom>
          <a:solidFill>
            <a:srgbClr val="2A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900" b="1">
                <a:solidFill>
                  <a:srgbClr val="FCA5A5"/>
                </a:solidFill>
                <a:latin typeface="JetBrains Mono"/>
              </a:rPr>
              <a:t>MANUAL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98678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1E8"/>
                </a:solidFill>
                <a:latin typeface="Inter"/>
              </a:rPr>
              <a:t>BnB / SCG / Dohome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32520" y="3986784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7C2B3"/>
                </a:solidFill>
                <a:latin typeface="JetBrains Mono"/>
              </a:rPr>
              <a:t>SPA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332720" y="3986784"/>
            <a:ext cx="512064" cy="246888"/>
          </a:xfrm>
          <a:prstGeom prst="roundRect">
            <a:avLst>
              <a:gd name="adj" fmla="val 50000"/>
            </a:avLst>
          </a:prstGeom>
          <a:solidFill>
            <a:srgbClr val="2A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900" b="1">
                <a:solidFill>
                  <a:srgbClr val="FCA5A5"/>
                </a:solidFill>
                <a:latin typeface="JetBrains Mono"/>
              </a:rPr>
              <a:t>MANUAL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45262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D7A72"/>
                </a:solidFill>
                <a:latin typeface="Inter"/>
              </a:rPr>
              <a:t>→ ราคาตลาด สำหรับเทียบ market price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349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F1E8"/>
                </a:solidFill>
                <a:latin typeface="Inter"/>
              </a:rPr>
              <a:t>Materials taxonomy</a:t>
            </a:r>
          </a:p>
        </p:txBody>
      </p:sp>
      <p:sp>
        <p:nvSpPr>
          <p:cNvPr id="42" name="Oval 41"/>
          <p:cNvSpPr/>
          <p:nvPr/>
        </p:nvSpPr>
        <p:spPr>
          <a:xfrm>
            <a:off x="548640" y="5824728"/>
            <a:ext cx="118872" cy="11887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57607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C7C2B3"/>
                </a:solidFill>
                <a:latin typeface="Inter"/>
              </a:rPr>
              <a:t>wall_tile (5) — กระเบื้อง · ปูนกาว · ปูนยาแนว · คิ้ว</a:t>
            </a:r>
          </a:p>
        </p:txBody>
      </p:sp>
      <p:sp>
        <p:nvSpPr>
          <p:cNvPr id="44" name="Oval 43"/>
          <p:cNvSpPr/>
          <p:nvPr/>
        </p:nvSpPr>
        <p:spPr>
          <a:xfrm>
            <a:off x="548640" y="6099048"/>
            <a:ext cx="118872" cy="11887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6035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C7C2B3"/>
                </a:solidFill>
                <a:latin typeface="Inter"/>
              </a:rPr>
              <a:t>column_beam (4) — ปูน · ทราย · หิน · น้ำ</a:t>
            </a:r>
          </a:p>
        </p:txBody>
      </p:sp>
      <p:sp>
        <p:nvSpPr>
          <p:cNvPr id="46" name="Oval 45"/>
          <p:cNvSpPr/>
          <p:nvPr/>
        </p:nvSpPr>
        <p:spPr>
          <a:xfrm>
            <a:off x="548640" y="6373367"/>
            <a:ext cx="118872" cy="11887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" y="6309359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C7C2B3"/>
                </a:solidFill>
                <a:latin typeface="Inter"/>
              </a:rPr>
              <a:t>rebar (8) — RB6-RB9 · DB10-DB25 · ลวด · ไม้แบบ · ตะปู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D7A72"/>
                </a:solidFill>
                <a:latin typeface="JetBrains Mono"/>
              </a:rPr>
              <a:t>construction-cost-engine · pipeline deck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D7A72"/>
                </a:solidFill>
                <a:latin typeface="JetBrains Mono"/>
              </a:rPr>
              <a:t>03 / 10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0"/>
            <a:ext cx="3657508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BBF24"/>
                </a:solidFill>
                <a:latin typeface="JetBrains Mono"/>
              </a:rPr>
              <a:t>PIPELINE / 04 · ACQUISITION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5F1E8"/>
                </a:solidFill>
                <a:latin typeface="Inter"/>
              </a:rPr>
              <a:t>Four Strategies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743200" cy="2743200"/>
          </a:xfrm>
          <a:prstGeom prst="roundRect">
            <a:avLst>
              <a:gd name="adj" fmla="val 6000"/>
            </a:avLst>
          </a:prstGeom>
          <a:solidFill>
            <a:srgbClr val="1F2630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89788" cy="246888"/>
          </a:xfrm>
          <a:prstGeom prst="roundRect">
            <a:avLst>
              <a:gd name="adj" fmla="val 50000"/>
            </a:avLst>
          </a:prstGeom>
          <a:solidFill>
            <a:srgbClr val="2A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900" b="1">
                <a:solidFill>
                  <a:srgbClr val="FBBF24"/>
                </a:solidFill>
                <a:latin typeface="JetBrains Mono"/>
              </a:rPr>
              <a:t>A · PDF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F1E8"/>
                </a:solidFill>
                <a:latin typeface="Inter"/>
              </a:rPr>
              <a:t>unpdf parse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23774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7C2B3"/>
                </a:solidFill>
                <a:latin typeface="Inter"/>
              </a:rPr>
              <a:t>TPSO + CGD ส่งราคาใน PDF rate report. ใช้ unpdf + regex หาแถวที่ตรง material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D7A72"/>
                </a:solidFill>
                <a:latin typeface="JetBrains Mono"/>
              </a:rPr>
              <a:t>Input: PDF URL
Output: number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828800"/>
            <a:ext cx="2743200" cy="2743200"/>
          </a:xfrm>
          <a:prstGeom prst="roundRect">
            <a:avLst>
              <a:gd name="adj" fmla="val 6000"/>
            </a:avLst>
          </a:prstGeom>
          <a:solidFill>
            <a:srgbClr val="1F2630"/>
          </a:solidFill>
          <a:ln w="1905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66160" y="2011680"/>
            <a:ext cx="978408" cy="246888"/>
          </a:xfrm>
          <a:prstGeom prst="roundRect">
            <a:avLst>
              <a:gd name="adj" fmla="val 50000"/>
            </a:avLst>
          </a:prstGeom>
          <a:solidFill>
            <a:srgbClr val="0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900" b="1">
                <a:solidFill>
                  <a:srgbClr val="5EEAD4"/>
                </a:solidFill>
                <a:latin typeface="JetBrains Mono"/>
              </a:rPr>
              <a:t>B · JSON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3774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F1E8"/>
                </a:solidFill>
                <a:latin typeface="Inter"/>
              </a:rPr>
              <a:t>suggest.jsp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788920"/>
            <a:ext cx="23774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7C2B3"/>
                </a:solidFill>
                <a:latin typeface="Inter"/>
              </a:rPr>
              <a:t>HomePro/MegaHome expose /service/search/suggest.jsp?q=… JSON. ตรง, เร็ว, ไม่ต้อง render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93192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D7A72"/>
                </a:solidFill>
                <a:latin typeface="JetBrains Mono"/>
              </a:rPr>
              <a:t>Input: search term
Output: {item_name, price}[]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828800"/>
            <a:ext cx="2743200" cy="2743200"/>
          </a:xfrm>
          <a:prstGeom prst="roundRect">
            <a:avLst>
              <a:gd name="adj" fmla="val 6000"/>
            </a:avLst>
          </a:prstGeom>
          <a:solidFill>
            <a:srgbClr val="1F2630"/>
          </a:solidFill>
          <a:ln w="1905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0" y="2011680"/>
            <a:ext cx="745236" cy="246888"/>
          </a:xfrm>
          <a:prstGeom prst="roundRect">
            <a:avLst>
              <a:gd name="adj" fmla="val 50000"/>
            </a:avLst>
          </a:prstGeom>
          <a:solidFill>
            <a:srgbClr val="22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900" b="1">
                <a:solidFill>
                  <a:srgbClr val="C7C2B3"/>
                </a:solidFill>
                <a:latin typeface="JetBrains Mono"/>
              </a:rPr>
              <a:t>C · PROXY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3774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F1E8"/>
                </a:solidFill>
                <a:latin typeface="Inter"/>
              </a:rPr>
              <a:t>ScrapingBee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788920"/>
            <a:ext cx="23774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7C2B3"/>
                </a:solidFill>
                <a:latin typeface="Inter"/>
              </a:rPr>
              <a:t>Residential proxy + JS render. เก็บ JSON-LD Product → name+price แล้วกรองด้วย canonical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93192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D7A72"/>
                </a:solidFill>
                <a:latin typeface="JetBrains Mono"/>
              </a:rPr>
              <a:t>Input: URL + waitMs
Output: HTML → ld+json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1828800"/>
            <a:ext cx="2743200" cy="2743200"/>
          </a:xfrm>
          <a:prstGeom prst="roundRect">
            <a:avLst>
              <a:gd name="adj" fmla="val 6000"/>
            </a:avLst>
          </a:prstGeom>
          <a:solidFill>
            <a:srgbClr val="1F2630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235440" y="2011680"/>
            <a:ext cx="822960" cy="246888"/>
          </a:xfrm>
          <a:prstGeom prst="roundRect">
            <a:avLst>
              <a:gd name="adj" fmla="val 50000"/>
            </a:avLst>
          </a:prstGeom>
          <a:solidFill>
            <a:srgbClr val="2A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900" b="1">
                <a:solidFill>
                  <a:srgbClr val="FCA5A5"/>
                </a:solidFill>
                <a:latin typeface="JetBrains Mono"/>
              </a:rPr>
              <a:t>D · MANUAL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3774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F1E8"/>
                </a:solidFill>
                <a:latin typeface="Inter"/>
              </a:rPr>
              <a:t>Admin upload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788920"/>
            <a:ext cx="23774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7C2B3"/>
                </a:solidFill>
                <a:latin typeface="Inter"/>
              </a:rPr>
              <a:t>POST /api/admin/upload-prices รับ CSV/JSON ใส่ KV โดยตรง. ใช้กับ govt/SPA ที่ scrape ไม่ได้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393192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D7A72"/>
                </a:solidFill>
                <a:latin typeface="JetBrains Mono"/>
              </a:rPr>
              <a:t>Input: {source,province,prices}
Output: KV write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846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F1E8"/>
                </a:solidFill>
                <a:latin typeface="Inter"/>
              </a:rPr>
              <a:t>Fallback chain (retail provider)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349240"/>
            <a:ext cx="2560320" cy="914400"/>
          </a:xfrm>
          <a:prstGeom prst="roundRect">
            <a:avLst>
              <a:gd name="adj" fmla="val 6000"/>
            </a:avLst>
          </a:prstGeom>
          <a:solidFill>
            <a:srgbClr val="1F2630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85800" y="5513832"/>
            <a:ext cx="123444" cy="246888"/>
          </a:xfrm>
          <a:prstGeom prst="roundRect">
            <a:avLst>
              <a:gd name="adj" fmla="val 50000"/>
            </a:avLst>
          </a:prstGeom>
          <a:solidFill>
            <a:srgbClr val="0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900" b="1">
                <a:solidFill>
                  <a:srgbClr val="5EEAD4"/>
                </a:solidFill>
                <a:latin typeface="JetBrains Mono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5513832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7C2B3"/>
                </a:solidFill>
                <a:latin typeface="Inter"/>
              </a:rPr>
              <a:t>ScrapingBee + JSON-LD canonical pick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3113532" y="5669280"/>
            <a:ext cx="155448" cy="274320"/>
          </a:xfrm>
          <a:prstGeom prst="rightArrow">
            <a:avLst/>
          </a:prstGeom>
          <a:solidFill>
            <a:srgbClr val="2A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273552" y="5349240"/>
            <a:ext cx="2560320" cy="914400"/>
          </a:xfrm>
          <a:prstGeom prst="roundRect">
            <a:avLst>
              <a:gd name="adj" fmla="val 6000"/>
            </a:avLst>
          </a:prstGeom>
          <a:solidFill>
            <a:srgbClr val="1F2630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410712" y="5513832"/>
            <a:ext cx="123444" cy="246888"/>
          </a:xfrm>
          <a:prstGeom prst="roundRect">
            <a:avLst>
              <a:gd name="adj" fmla="val 50000"/>
            </a:avLst>
          </a:prstGeom>
          <a:solidFill>
            <a:srgbClr val="2A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900" b="1">
                <a:solidFill>
                  <a:srgbClr val="FBBF24"/>
                </a:solidFill>
                <a:latin typeface="JetBrains Mono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67912" y="5513832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7C2B3"/>
                </a:solidFill>
                <a:latin typeface="Inter"/>
              </a:rPr>
              <a:t>ScrapingBee + regex extract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5838444" y="5669280"/>
            <a:ext cx="155448" cy="274320"/>
          </a:xfrm>
          <a:prstGeom prst="rightArrow">
            <a:avLst/>
          </a:prstGeom>
          <a:solidFill>
            <a:srgbClr val="2A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998464" y="5349240"/>
            <a:ext cx="2560320" cy="914400"/>
          </a:xfrm>
          <a:prstGeom prst="roundRect">
            <a:avLst>
              <a:gd name="adj" fmla="val 6000"/>
            </a:avLst>
          </a:prstGeom>
          <a:solidFill>
            <a:srgbClr val="1F2630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35624" y="5513832"/>
            <a:ext cx="123444" cy="246888"/>
          </a:xfrm>
          <a:prstGeom prst="roundRect">
            <a:avLst>
              <a:gd name="adj" fmla="val 50000"/>
            </a:avLst>
          </a:prstGeom>
          <a:solidFill>
            <a:srgbClr val="2A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900" b="1">
                <a:solidFill>
                  <a:srgbClr val="FBBF24"/>
                </a:solidFill>
                <a:latin typeface="JetBrains Mono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92824" y="5513832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7C2B3"/>
                </a:solidFill>
                <a:latin typeface="Inter"/>
              </a:rPr>
              <a:t>CF Browser Rendering (puppeteer)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8563356" y="5669280"/>
            <a:ext cx="155448" cy="274320"/>
          </a:xfrm>
          <a:prstGeom prst="rightArrow">
            <a:avLst/>
          </a:prstGeom>
          <a:solidFill>
            <a:srgbClr val="2A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723376" y="5349240"/>
            <a:ext cx="2560320" cy="914400"/>
          </a:xfrm>
          <a:prstGeom prst="roundRect">
            <a:avLst>
              <a:gd name="adj" fmla="val 6000"/>
            </a:avLst>
          </a:prstGeom>
          <a:solidFill>
            <a:srgbClr val="1F2630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860536" y="5513832"/>
            <a:ext cx="123444" cy="246888"/>
          </a:xfrm>
          <a:prstGeom prst="roundRect">
            <a:avLst>
              <a:gd name="adj" fmla="val 50000"/>
            </a:avLst>
          </a:prstGeom>
          <a:solidFill>
            <a:srgbClr val="2A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900" b="1">
                <a:solidFill>
                  <a:srgbClr val="FCA5A5"/>
                </a:solidFill>
                <a:latin typeface="JetBrains Mono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17736" y="5513832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7C2B3"/>
                </a:solidFill>
                <a:latin typeface="Inter"/>
              </a:rPr>
              <a:t>null → wait for manual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D7A72"/>
                </a:solidFill>
                <a:latin typeface="JetBrains Mono"/>
              </a:rPr>
              <a:t>construction-cost-engine · pipeline deck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D7A72"/>
                </a:solidFill>
                <a:latin typeface="JetBrains Mono"/>
              </a:rPr>
              <a:t>04 / 10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0"/>
            <a:ext cx="4876678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BBF24"/>
                </a:solidFill>
                <a:latin typeface="JetBrains Mono"/>
              </a:rPr>
              <a:t>PIPELINE / 05 · NORMALIZE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5F1E8"/>
                </a:solidFill>
                <a:latin typeface="Inter"/>
              </a:rPr>
              <a:t>Option B — Canonical Spec Matching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2B3"/>
                </a:solidFill>
                <a:latin typeface="Inter"/>
              </a:rPr>
              <a:t>ปัญหา: HomePro ค้นด้วยคำ "ปูน" ได้ผลลัพธ์ 200 รายการ ราคา 80-2,400฿. แต่ละแหล่งใช้คำต่างกัน ขนาดต่างกัน. ถ้า median ทั้งหมด = เปรียบเทียบไม่ตรง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97480"/>
            <a:ext cx="5486400" cy="2468880"/>
          </a:xfrm>
          <a:prstGeom prst="roundRect">
            <a:avLst>
              <a:gd name="adj" fmla="val 6000"/>
            </a:avLst>
          </a:prstGeom>
          <a:solidFill>
            <a:srgbClr val="1F2630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2697480"/>
            <a:ext cx="5486400" cy="2468880"/>
          </a:xfrm>
          <a:prstGeom prst="roundRect">
            <a:avLst>
              <a:gd name="adj" fmla="val 6000"/>
            </a:avLst>
          </a:prstGeom>
          <a:solidFill>
            <a:srgbClr val="1F2630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8346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F1E8"/>
                </a:solidFill>
                <a:latin typeface="Inter"/>
              </a:rPr>
              <a:t>1. Canonical spec per material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246120"/>
            <a:ext cx="5029200" cy="1828800"/>
          </a:xfrm>
          <a:prstGeom prst="roundRect">
            <a:avLst>
              <a:gd name="adj" fmla="val 6000"/>
            </a:avLst>
          </a:prstGeom>
          <a:solidFill>
            <a:srgbClr val="0E1116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383280"/>
            <a:ext cx="466344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7C2B3"/>
                </a:solidFill>
                <a:latin typeface="JetBrains Mono"/>
              </a:rPr>
              <a:t>CEMENT_001: {
  canonical: {
    brand: "ตราเสือ",
    size:  "50kg",
    grade: "Type I"
  },
  searchTerms: [
    "ปูนซีเมนต์ปอร์ตแลนด์ ตราเสือ 50 กก",
    "ปูนตราเสือ 50 กก"
  ]
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8346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F1E8"/>
                </a:solidFill>
                <a:latin typeface="Inter"/>
              </a:rPr>
              <a:t>2. Three-tier filter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3337560"/>
            <a:ext cx="434340" cy="246888"/>
          </a:xfrm>
          <a:prstGeom prst="roundRect">
            <a:avLst>
              <a:gd name="adj" fmla="val 50000"/>
            </a:avLst>
          </a:prstGeom>
          <a:solidFill>
            <a:srgbClr val="0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900" b="1">
                <a:solidFill>
                  <a:srgbClr val="5EEAD4"/>
                </a:solidFill>
                <a:latin typeface="JetBrains Mono"/>
              </a:rPr>
              <a:t>tight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33375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7C2B3"/>
                </a:solidFill>
                <a:latin typeface="Inter"/>
              </a:rPr>
              <a:t>ผลลัพธ์ที่ขนาดตรง (must) + brand/grade hit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3794760"/>
            <a:ext cx="434340" cy="246888"/>
          </a:xfrm>
          <a:prstGeom prst="roundRect">
            <a:avLst>
              <a:gd name="adj" fmla="val 50000"/>
            </a:avLst>
          </a:prstGeom>
          <a:solidFill>
            <a:srgbClr val="2A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900" b="1">
                <a:solidFill>
                  <a:srgbClr val="FBBF24"/>
                </a:solidFill>
                <a:latin typeface="JetBrains Mono"/>
              </a:rPr>
              <a:t>loose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37947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7C2B3"/>
                </a:solidFill>
                <a:latin typeface="Inter"/>
              </a:rPr>
              <a:t>ขนาดตรงอย่างเดียว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4251960"/>
            <a:ext cx="512064" cy="246888"/>
          </a:xfrm>
          <a:prstGeom prst="roundRect">
            <a:avLst>
              <a:gd name="adj" fmla="val 50000"/>
            </a:avLst>
          </a:prstGeom>
          <a:solidFill>
            <a:srgbClr val="22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900" b="1">
                <a:solidFill>
                  <a:srgbClr val="C7C2B3"/>
                </a:solidFill>
                <a:latin typeface="JetBrains Mono"/>
              </a:rPr>
              <a:t>legacy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42519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7C2B3"/>
                </a:solidFill>
                <a:latin typeface="Inter"/>
              </a:rPr>
              <a:t>ไม่มี hit เลย → median ทั้งหมด (backwards compat)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7548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D7A72"/>
                </a:solidFill>
                <a:latin typeface="JetBrains Mono"/>
              </a:rPr>
              <a:t>ใช้ใน _suggestJsp.ts (HomePro/MegaHome) และ _scrapingbee.ts JSON-LD path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349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F1E8"/>
                </a:solidFill>
                <a:latin typeface="Inter"/>
              </a:rPr>
              <a:t>3. UI honesty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760720"/>
            <a:ext cx="3657600" cy="868680"/>
          </a:xfrm>
          <a:prstGeom prst="roundRect">
            <a:avLst>
              <a:gd name="adj" fmla="val 6000"/>
            </a:avLst>
          </a:prstGeom>
          <a:solidFill>
            <a:srgbClr val="1F2630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870448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F1E8"/>
                </a:solidFill>
                <a:latin typeface="Inter"/>
              </a:rPr>
              <a:t>Canonical chip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2179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7C2B3"/>
                </a:solidFill>
                <a:latin typeface="Inter"/>
              </a:rPr>
              <a:t>แสดง brand/size/grade ที่ใช้ filter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5760720"/>
            <a:ext cx="3657600" cy="868680"/>
          </a:xfrm>
          <a:prstGeom prst="roundRect">
            <a:avLst>
              <a:gd name="adj" fmla="val 6000"/>
            </a:avLst>
          </a:prstGeom>
          <a:solidFill>
            <a:srgbClr val="1F2630"/>
          </a:solidFill>
          <a:ln w="1905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0" y="5870448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F1E8"/>
                </a:solidFill>
                <a:latin typeface="Inter"/>
              </a:rPr>
              <a:t>Trust label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62179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7C2B3"/>
                </a:solidFill>
                <a:latin typeface="Inter"/>
              </a:rPr>
              <a:t>Government = Official BoQ · Modern Trade = Market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5760720"/>
            <a:ext cx="3657600" cy="868680"/>
          </a:xfrm>
          <a:prstGeom prst="roundRect">
            <a:avLst>
              <a:gd name="adj" fmla="val 6000"/>
            </a:avLst>
          </a:prstGeom>
          <a:solidFill>
            <a:srgbClr val="1F2630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5870448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F1E8"/>
                </a:solidFill>
                <a:latin typeface="Inter"/>
              </a:rPr>
              <a:t>Spread warning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62179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7C2B3"/>
                </a:solidFill>
                <a:latin typeface="Inter"/>
              </a:rPr>
              <a:t>เมื่อ spread &gt; 30% → "Indicative range"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D7A72"/>
                </a:solidFill>
                <a:latin typeface="JetBrains Mono"/>
              </a:rPr>
              <a:t>construction-cost-engine · pipeline deck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D7A72"/>
                </a:solidFill>
                <a:latin typeface="JetBrains Mono"/>
              </a:rPr>
              <a:t>05 / 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0"/>
            <a:ext cx="6095847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BBF24"/>
                </a:solidFill>
                <a:latin typeface="JetBrains Mono"/>
              </a:rPr>
              <a:t>PIPELINE / 06 ·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5F1E8"/>
                </a:solidFill>
                <a:latin typeface="Inter"/>
              </a:rPr>
              <a:t>Cloudflare KV — Cache + Time-Series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486400" cy="2286000"/>
          </a:xfrm>
          <a:prstGeom prst="roundRect">
            <a:avLst>
              <a:gd name="adj" fmla="val 6000"/>
            </a:avLst>
          </a:prstGeom>
          <a:solidFill>
            <a:srgbClr val="1F2630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F1E8"/>
                </a:solidFill>
                <a:latin typeface="Inter"/>
              </a:rPr>
              <a:t>Live price cache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377440"/>
            <a:ext cx="5029200" cy="1097280"/>
          </a:xfrm>
          <a:prstGeom prst="roundRect">
            <a:avLst>
              <a:gd name="adj" fmla="val 6000"/>
            </a:avLst>
          </a:prstGeom>
          <a:solidFill>
            <a:srgbClr val="0E1116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514600"/>
            <a:ext cx="46634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7C2B3"/>
                </a:solidFill>
                <a:latin typeface="JetBrains Mono"/>
              </a:rPr>
              <a:t>key: "{source}:{materialId}:{province}"
val: { price: 175, fetchedAt: 1716... }
TTL: 30 days (govt) / 14 days (HomePro)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6118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7D7A72"/>
                </a:solidFill>
                <a:latin typeface="Inter"/>
              </a:rPr>
              <a:t>อ่านที่ /api/prices/[source]/[material] ทุก request → KV hit เป็นมาตรฐาน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486400" cy="2286000"/>
          </a:xfrm>
          <a:prstGeom prst="roundRect">
            <a:avLst>
              <a:gd name="adj" fmla="val 6000"/>
            </a:avLst>
          </a:prstGeom>
          <a:solidFill>
            <a:srgbClr val="1F2630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965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F1E8"/>
                </a:solidFill>
                <a:latin typeface="Inter"/>
              </a:rPr>
              <a:t>Weekly history snapshot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2377440"/>
            <a:ext cx="5029200" cy="1097280"/>
          </a:xfrm>
          <a:prstGeom prst="roundRect">
            <a:avLst>
              <a:gd name="adj" fmla="val 6000"/>
            </a:avLst>
          </a:prstGeom>
          <a:solidFill>
            <a:srgbClr val="0E1116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514600"/>
            <a:ext cx="46634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7C2B3"/>
                </a:solidFill>
                <a:latin typeface="JetBrains Mono"/>
              </a:rPr>
              <a:t>key: "hist:{source}:{material}:{prov}:{yyyy-mm-dd}"
val: { price, fetchedAt }
TTL: 365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6118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7D7A72"/>
                </a:solidFill>
                <a:latin typeface="Inter"/>
              </a:rPr>
              <a:t>เขียนทุกจันทร์ 03:17 UTC โดย GH Actions cron → ใช้สร้าง trend chart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34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F1E8"/>
                </a:solidFill>
                <a:latin typeface="Inter"/>
              </a:rPr>
              <a:t>Refresh cadence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4632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BBF24"/>
                </a:solidFill>
                <a:latin typeface="JetBrains Mono"/>
              </a:rPr>
              <a:t>TRIGGER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484632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BBF24"/>
                </a:solidFill>
                <a:latin typeface="JetBrains Mono"/>
              </a:rPr>
              <a:t>WHAT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84632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BBF24"/>
                </a:solidFill>
                <a:latin typeface="JetBrains Mono"/>
              </a:rPr>
              <a:t>FREQUENCY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48463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BBF24"/>
                </a:solidFill>
                <a:latin typeface="JetBrains Mono"/>
              </a:rPr>
              <a:t>COST GUARD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5175504"/>
            <a:ext cx="11521440" cy="0"/>
          </a:xfrm>
          <a:prstGeom prst="line">
            <a:avLst/>
          </a:prstGeom>
          <a:ln w="6350">
            <a:solidFill>
              <a:srgbClr val="2A2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8640" y="521208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7C2B3"/>
                </a:solidFill>
                <a:latin typeface="JetBrains Mono"/>
              </a:rPr>
              <a:t>GH Actions cron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521208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7C2B3"/>
                </a:solidFill>
                <a:latin typeface="Inter"/>
              </a:rPr>
              <a:t>refresh-prices + snapshot-history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21208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7C2B3"/>
                </a:solidFill>
                <a:latin typeface="Inter"/>
              </a:rPr>
              <a:t>Mon 03:17 UTC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52120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7C2B3"/>
                </a:solidFill>
                <a:latin typeface="Inter"/>
              </a:rPr>
              <a:t>~50 ScrapingBee credits/wk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" y="5559552"/>
            <a:ext cx="11521440" cy="0"/>
          </a:xfrm>
          <a:prstGeom prst="line">
            <a:avLst/>
          </a:prstGeom>
          <a:ln w="6350">
            <a:solidFill>
              <a:srgbClr val="2A2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" y="5596128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7C2B3"/>
                </a:solidFill>
                <a:latin typeface="JetBrains Mono"/>
              </a:rPr>
              <a:t>On-demand fetch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559612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7C2B3"/>
                </a:solidFill>
                <a:latin typeface="Inter"/>
              </a:rPr>
              <a:t>/api/prices/[src]/[mat]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59612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7C2B3"/>
                </a:solidFill>
                <a:latin typeface="Inter"/>
              </a:rPr>
              <a:t>per request (KV miss only)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559612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7C2B3"/>
                </a:solidFill>
                <a:latin typeface="Inter"/>
              </a:rPr>
              <a:t>rate-limited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48640" y="5943600"/>
            <a:ext cx="11521440" cy="0"/>
          </a:xfrm>
          <a:prstGeom prst="line">
            <a:avLst/>
          </a:prstGeom>
          <a:ln w="6350">
            <a:solidFill>
              <a:srgbClr val="2A2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48640" y="5980176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7C2B3"/>
                </a:solidFill>
                <a:latin typeface="JetBrains Mono"/>
              </a:rPr>
              <a:t>Admin upload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5980176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7C2B3"/>
                </a:solidFill>
                <a:latin typeface="Inter"/>
              </a:rPr>
              <a:t>/api/admin/upload-prices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5980176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7C2B3"/>
                </a:solidFill>
                <a:latin typeface="Inter"/>
              </a:rPr>
              <a:t>manual (CGD/DIT/SPAs)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5980176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7C2B3"/>
                </a:solidFill>
                <a:latin typeface="Inter"/>
              </a:rPr>
              <a:t>auth-gated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D7A72"/>
                </a:solidFill>
                <a:latin typeface="JetBrains Mono"/>
              </a:rPr>
              <a:t>construction-cost-engine · pipeline deck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D7A72"/>
                </a:solidFill>
                <a:latin typeface="JetBrains Mono"/>
              </a:rPr>
              <a:t>06 / 10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0"/>
            <a:ext cx="7315017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BBF24"/>
                </a:solidFill>
                <a:latin typeface="JetBrains Mono"/>
              </a:rPr>
              <a:t>PIPELINE / 07 · API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5F1E8"/>
                </a:solidFill>
                <a:latin typeface="Inter"/>
              </a:rPr>
              <a:t>Endpoints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486400" cy="3931920"/>
          </a:xfrm>
          <a:prstGeom prst="roundRect">
            <a:avLst>
              <a:gd name="adj" fmla="val 6000"/>
            </a:avLst>
          </a:prstGeom>
          <a:solidFill>
            <a:srgbClr val="1F2630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486400" cy="3931920"/>
          </a:xfrm>
          <a:prstGeom prst="roundRect">
            <a:avLst>
              <a:gd name="adj" fmla="val 6000"/>
            </a:avLst>
          </a:prstGeom>
          <a:solidFill>
            <a:srgbClr val="1F2630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5EEAD4"/>
                </a:solidFill>
                <a:latin typeface="Inter"/>
              </a:rPr>
              <a:t>Public REST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BBF24"/>
                </a:solidFill>
                <a:latin typeface="JetBrains Mono"/>
              </a:rPr>
              <a:t>GET /api/prices/[source]/[material]?province=N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D7A72"/>
                </a:solidFill>
                <a:latin typeface="Inter"/>
              </a:rPr>
              <a:t>→ {price, live, available, fetchedAt}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63239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BBF24"/>
                </a:solidFill>
                <a:latin typeface="JetBrains Mono"/>
              </a:rPr>
              <a:t>GET /api/compare/[material]?province=N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37559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D7A72"/>
                </a:solidFill>
                <a:latin typeface="Inter"/>
              </a:rPr>
              <a:t>→ fan-out 10 sources + summary {min,max,spreadPct}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033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BBF24"/>
                </a:solidFill>
                <a:latin typeface="JetBrains Mono"/>
              </a:rPr>
              <a:t>GET /api/sources/health?province=N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776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D7A72"/>
                </a:solidFill>
                <a:latin typeface="Inter"/>
              </a:rPr>
              <a:t>→ per-source {fresh,ok,stale,missing} + coverage%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BBF24"/>
                </a:solidFill>
                <a:latin typeface="JetBrains Mono"/>
              </a:rPr>
              <a:t>GET /api/prices/status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177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D7A72"/>
                </a:solidFill>
                <a:latin typeface="Inter"/>
              </a:rPr>
              <a:t>→ live providers + ScrapingBee enabled?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983479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BBF24"/>
                </a:solidFill>
                <a:latin typeface="JetBrains Mono"/>
              </a:rPr>
              <a:t>GET /api/trend/[source]/[material]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257799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D7A72"/>
                </a:solidFill>
                <a:latin typeface="Inter"/>
              </a:rPr>
              <a:t>→ time-series จาก hist: keys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965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BBF24"/>
                </a:solidFill>
                <a:latin typeface="Inter"/>
              </a:rPr>
              <a:t>Admin (x-admin-token)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4231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BBF24"/>
                </a:solidFill>
                <a:latin typeface="JetBrains Mono"/>
              </a:rPr>
              <a:t>POST /api/admin/refresh-prices?source=X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6974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D7A72"/>
                </a:solidFill>
                <a:latin typeface="Inter"/>
              </a:rPr>
              <a:t>→ trigger live fetch + KV write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063239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BBF24"/>
                </a:solidFill>
                <a:latin typeface="JetBrains Mono"/>
              </a:rPr>
              <a:t>POST /api/admin/upload-prices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337559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D7A72"/>
                </a:solidFill>
                <a:latin typeface="Inter"/>
              </a:rPr>
              <a:t>→ bulk ingest {source, province, prices{}}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7033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BBF24"/>
                </a:solidFill>
                <a:latin typeface="JetBrains Mono"/>
              </a:rPr>
              <a:t>POST /api/admin/snapshot-history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9776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D7A72"/>
                </a:solidFill>
                <a:latin typeface="Inter"/>
              </a:rPr>
              <a:t>→ write hist: keys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3434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BBF24"/>
                </a:solidFill>
                <a:latin typeface="JetBrains Mono"/>
              </a:rPr>
              <a:t>GET  /api/admin/scrapingbee-debug?source=X&amp;material=Y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6177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D7A72"/>
                </a:solidFill>
                <a:latin typeface="Inter"/>
              </a:rPr>
              <a:t>→ surface upstream status, html signals, probes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943600"/>
            <a:ext cx="11155680" cy="640080"/>
          </a:xfrm>
          <a:prstGeom prst="roundRect">
            <a:avLst>
              <a:gd name="adj" fmla="val 6000"/>
            </a:avLst>
          </a:prstGeom>
          <a:solidFill>
            <a:srgbClr val="1F2630"/>
          </a:solidFill>
          <a:ln w="1905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61264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7C2B3"/>
                </a:solidFill>
                <a:latin typeface="Inter"/>
              </a:rPr>
              <a:t>Cache headers: public, s-maxage=60, stale-while-revalidate=120 — Cloudflare edge cache ตอบ 99% ของ traffic โดยไม่แตะ Worker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D7A72"/>
                </a:solidFill>
                <a:latin typeface="JetBrains Mono"/>
              </a:rPr>
              <a:t>construction-cost-engine · pipeline deck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D7A72"/>
                </a:solidFill>
                <a:latin typeface="JetBrains Mono"/>
              </a:rPr>
              <a:t>07 / 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0"/>
            <a:ext cx="8534186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BBF24"/>
                </a:solidFill>
                <a:latin typeface="JetBrains Mono"/>
              </a:rPr>
              <a:t>PIPELINE / 08 · CONSUMERS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5F1E8"/>
                </a:solidFill>
                <a:latin typeface="Inter"/>
              </a:rPr>
              <a:t>UI Pages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2743200" cy="1965960"/>
          </a:xfrm>
          <a:prstGeom prst="roundRect">
            <a:avLst>
              <a:gd name="adj" fmla="val 6000"/>
            </a:avLst>
          </a:prstGeom>
          <a:solidFill>
            <a:srgbClr val="1F2630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3232" y="2057399"/>
            <a:ext cx="667512" cy="246888"/>
          </a:xfrm>
          <a:prstGeom prst="roundRect">
            <a:avLst>
              <a:gd name="adj" fmla="val 50000"/>
            </a:avLst>
          </a:prstGeom>
          <a:solidFill>
            <a:srgbClr val="2A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900" b="1">
                <a:solidFill>
                  <a:srgbClr val="FBBF24"/>
                </a:solidFill>
                <a:latin typeface="JetBrains Mono"/>
              </a:rPr>
              <a:t>/sources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599"/>
            <a:ext cx="237744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7C2B3"/>
                </a:solidFill>
                <a:latin typeface="Inter"/>
              </a:rPr>
              <a:t>ตารางราคา per material × per source + freshness badge + CSV export + manual uploader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0712" y="1874519"/>
            <a:ext cx="2743200" cy="1965960"/>
          </a:xfrm>
          <a:prstGeom prst="roundRect">
            <a:avLst>
              <a:gd name="adj" fmla="val 6000"/>
            </a:avLst>
          </a:prstGeom>
          <a:solidFill>
            <a:srgbClr val="1F2630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75304" y="2057399"/>
            <a:ext cx="1289304" cy="246888"/>
          </a:xfrm>
          <a:prstGeom prst="roundRect">
            <a:avLst>
              <a:gd name="adj" fmla="val 50000"/>
            </a:avLst>
          </a:prstGeom>
          <a:solidFill>
            <a:srgbClr val="2A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900" b="1">
                <a:solidFill>
                  <a:srgbClr val="FBBF24"/>
                </a:solidFill>
                <a:latin typeface="JetBrains Mono"/>
              </a:rPr>
              <a:t>/compare-sources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592" y="2514599"/>
            <a:ext cx="237744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7C2B3"/>
                </a:solidFill>
                <a:latin typeface="Inter"/>
              </a:rPr>
              <a:t>เลือก material × province → bar chart + table 10 sources + canonical chip + spread warning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2784" y="1874519"/>
            <a:ext cx="2743200" cy="1965960"/>
          </a:xfrm>
          <a:prstGeom prst="roundRect">
            <a:avLst>
              <a:gd name="adj" fmla="val 6000"/>
            </a:avLst>
          </a:prstGeom>
          <a:solidFill>
            <a:srgbClr val="1F2630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37376" y="2057399"/>
            <a:ext cx="512064" cy="246888"/>
          </a:xfrm>
          <a:prstGeom prst="roundRect">
            <a:avLst>
              <a:gd name="adj" fmla="val 50000"/>
            </a:avLst>
          </a:prstGeom>
          <a:solidFill>
            <a:srgbClr val="2A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900" b="1">
                <a:solidFill>
                  <a:srgbClr val="FBBF24"/>
                </a:solidFill>
                <a:latin typeface="JetBrains Mono"/>
              </a:rPr>
              <a:t>/trend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514599"/>
            <a:ext cx="237744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7C2B3"/>
                </a:solidFill>
                <a:latin typeface="Inter"/>
              </a:rPr>
              <a:t>Time-series line chart ดู price drift ของ material ต่อ source (รอ cron สะสม ≥7 จุด)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34856" y="1874519"/>
            <a:ext cx="2743200" cy="1965960"/>
          </a:xfrm>
          <a:prstGeom prst="roundRect">
            <a:avLst>
              <a:gd name="adj" fmla="val 6000"/>
            </a:avLst>
          </a:prstGeom>
          <a:solidFill>
            <a:srgbClr val="1F2630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299448" y="2057399"/>
            <a:ext cx="589788" cy="246888"/>
          </a:xfrm>
          <a:prstGeom prst="roundRect">
            <a:avLst>
              <a:gd name="adj" fmla="val 50000"/>
            </a:avLst>
          </a:prstGeom>
          <a:solidFill>
            <a:srgbClr val="2A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900" b="1">
                <a:solidFill>
                  <a:srgbClr val="FBBF24"/>
                </a:solidFill>
                <a:latin typeface="JetBrains Mono"/>
              </a:rPr>
              <a:t>/health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17736" y="2514599"/>
            <a:ext cx="237744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7C2B3"/>
                </a:solidFill>
                <a:latin typeface="Inter"/>
              </a:rPr>
              <a:t>5 summary tiles + per-source coverage % (อ่าน KV ไม่ scrape — ฟรี)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59351"/>
            <a:ext cx="2743200" cy="1965960"/>
          </a:xfrm>
          <a:prstGeom prst="roundRect">
            <a:avLst>
              <a:gd name="adj" fmla="val 6000"/>
            </a:avLst>
          </a:prstGeom>
          <a:solidFill>
            <a:srgbClr val="1F2630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4142231"/>
            <a:ext cx="745236" cy="246888"/>
          </a:xfrm>
          <a:prstGeom prst="roundRect">
            <a:avLst>
              <a:gd name="adj" fmla="val 50000"/>
            </a:avLst>
          </a:prstGeom>
          <a:solidFill>
            <a:srgbClr val="2A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900" b="1">
                <a:solidFill>
                  <a:srgbClr val="FBBF24"/>
                </a:solidFill>
                <a:latin typeface="JetBrains Mono"/>
              </a:rPr>
              <a:t>/api-docs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599431"/>
            <a:ext cx="237744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7C2B3"/>
                </a:solidFill>
                <a:latin typeface="Inter"/>
              </a:rPr>
              <a:t>Public REST reference + curl examples + materials/sources enum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10712" y="3959351"/>
            <a:ext cx="2743200" cy="1965960"/>
          </a:xfrm>
          <a:prstGeom prst="roundRect">
            <a:avLst>
              <a:gd name="adj" fmla="val 6000"/>
            </a:avLst>
          </a:prstGeom>
          <a:solidFill>
            <a:srgbClr val="1F2630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75304" y="4142231"/>
            <a:ext cx="434340" cy="246888"/>
          </a:xfrm>
          <a:prstGeom prst="roundRect">
            <a:avLst>
              <a:gd name="adj" fmla="val 50000"/>
            </a:avLst>
          </a:prstGeom>
          <a:solidFill>
            <a:srgbClr val="2A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900" b="1">
                <a:solidFill>
                  <a:srgbClr val="FBBF24"/>
                </a:solidFill>
                <a:latin typeface="JetBrains Mono"/>
              </a:rPr>
              <a:t>/calc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93592" y="4599431"/>
            <a:ext cx="237744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7C2B3"/>
                </a:solidFill>
                <a:latin typeface="Inter"/>
              </a:rPr>
              <a:t>BoQ calculator — เลือก work_type + ปริมาณ → multiply with cons → total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72784" y="3959351"/>
            <a:ext cx="2743200" cy="1965960"/>
          </a:xfrm>
          <a:prstGeom prst="roundRect">
            <a:avLst>
              <a:gd name="adj" fmla="val 6000"/>
            </a:avLst>
          </a:prstGeom>
          <a:solidFill>
            <a:srgbClr val="1F2630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37376" y="4142231"/>
            <a:ext cx="1133856" cy="246888"/>
          </a:xfrm>
          <a:prstGeom prst="roundRect">
            <a:avLst>
              <a:gd name="adj" fmla="val 50000"/>
            </a:avLst>
          </a:prstGeom>
          <a:solidFill>
            <a:srgbClr val="2A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900" b="1">
                <a:solidFill>
                  <a:srgbClr val="FBBF24"/>
                </a:solidFill>
                <a:latin typeface="JetBrains Mono"/>
              </a:rPr>
              <a:t>/admin/sources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4599431"/>
            <a:ext cx="237744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7C2B3"/>
                </a:solidFill>
                <a:latin typeface="Inter"/>
              </a:rPr>
              <a:t>CsvUploader UI สำหรับ bulk ingest CGD/DIT/SPA monthly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34856" y="3959351"/>
            <a:ext cx="2743200" cy="1965960"/>
          </a:xfrm>
          <a:prstGeom prst="roundRect">
            <a:avLst>
              <a:gd name="adj" fmla="val 6000"/>
            </a:avLst>
          </a:prstGeom>
          <a:solidFill>
            <a:srgbClr val="1F2630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299448" y="4142231"/>
            <a:ext cx="1289304" cy="246888"/>
          </a:xfrm>
          <a:prstGeom prst="roundRect">
            <a:avLst>
              <a:gd name="adj" fmla="val 50000"/>
            </a:avLst>
          </a:prstGeom>
          <a:solidFill>
            <a:srgbClr val="2A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900" b="1">
                <a:solidFill>
                  <a:srgbClr val="FBBF24"/>
                </a:solidFill>
                <a:latin typeface="JetBrains Mono"/>
              </a:rPr>
              <a:t>sitemap + robots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17736" y="4599431"/>
            <a:ext cx="237744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7C2B3"/>
                </a:solidFill>
                <a:latin typeface="Inter"/>
              </a:rPr>
              <a:t>SEO. Disallow: /api/admin/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D7A72"/>
                </a:solidFill>
                <a:latin typeface="JetBrains Mono"/>
              </a:rPr>
              <a:t>construction-cost-engine · pipeline deck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D7A72"/>
                </a:solidFill>
                <a:latin typeface="JetBrains Mono"/>
              </a:rPr>
              <a:t>08 / 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0"/>
            <a:ext cx="9753356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BBF24"/>
                </a:solidFill>
                <a:latin typeface="JetBrains Mono"/>
              </a:rPr>
              <a:t>PIPELINE / 09 · PROBLEMS &amp; MITIGATIONS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5F1E8"/>
                </a:solidFill>
                <a:latin typeface="Inter"/>
              </a:rPr>
              <a:t>Known Gaps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BBF24"/>
                </a:solidFill>
                <a:latin typeface="JetBrains Mono"/>
              </a:rP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7830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BBF24"/>
                </a:solidFill>
                <a:latin typeface="JetBrains Mono"/>
              </a:rPr>
              <a:t>ROOT CAUSE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178308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BBF24"/>
                </a:solidFill>
                <a:latin typeface="JetBrains Mono"/>
              </a:rPr>
              <a:t>MITIGATION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17830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BBF24"/>
                </a:solidFill>
                <a:latin typeface="JetBrains Mono"/>
              </a:rPr>
              <a:t>STATUS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2103120"/>
            <a:ext cx="11521440" cy="0"/>
          </a:xfrm>
          <a:prstGeom prst="line">
            <a:avLst/>
          </a:prstGeom>
          <a:ln w="12700">
            <a:solidFill>
              <a:srgbClr val="2A2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228600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5F1E8"/>
                </a:solidFill>
                <a:latin typeface="Inter"/>
              </a:rPr>
              <a:t>CGD blocks scrape (403)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28600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7C2B3"/>
                </a:solidFill>
                <a:latin typeface="Inter"/>
              </a:rPr>
              <a:t>anti-bot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2286000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7C2B3"/>
                </a:solidFill>
                <a:latin typeface="Inter"/>
              </a:rPr>
              <a:t>Manual upload monthly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0" y="2286000"/>
            <a:ext cx="822960" cy="246888"/>
          </a:xfrm>
          <a:prstGeom prst="roundRect">
            <a:avLst>
              <a:gd name="adj" fmla="val 50000"/>
            </a:avLst>
          </a:prstGeom>
          <a:solidFill>
            <a:srgbClr val="2A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900" b="1">
                <a:solidFill>
                  <a:srgbClr val="FCA5A5"/>
                </a:solidFill>
                <a:latin typeface="JetBrains Mono"/>
              </a:rPr>
              <a:t>WORKAROUND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2706624"/>
            <a:ext cx="11521440" cy="0"/>
          </a:xfrm>
          <a:prstGeom prst="line">
            <a:avLst/>
          </a:prstGeom>
          <a:ln w="5080">
            <a:solidFill>
              <a:srgbClr val="2A2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274320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5F1E8"/>
                </a:solidFill>
                <a:latin typeface="Inter"/>
              </a:rPr>
              <a:t>DIT URL deprecated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274320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7C2B3"/>
                </a:solidFill>
                <a:latin typeface="Inter"/>
              </a:rPr>
              <a:t>infra change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2743200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7C2B3"/>
                </a:solidFill>
                <a:latin typeface="Inter"/>
              </a:rPr>
              <a:t>Manual upload daily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0" y="2743200"/>
            <a:ext cx="822960" cy="246888"/>
          </a:xfrm>
          <a:prstGeom prst="roundRect">
            <a:avLst>
              <a:gd name="adj" fmla="val 50000"/>
            </a:avLst>
          </a:prstGeom>
          <a:solidFill>
            <a:srgbClr val="2A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900" b="1">
                <a:solidFill>
                  <a:srgbClr val="FCA5A5"/>
                </a:solidFill>
                <a:latin typeface="JetBrains Mono"/>
              </a:rPr>
              <a:t>WORKAROUND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3163824"/>
            <a:ext cx="11521440" cy="0"/>
          </a:xfrm>
          <a:prstGeom prst="line">
            <a:avLst/>
          </a:prstGeom>
          <a:ln w="5080">
            <a:solidFill>
              <a:srgbClr val="2A2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320040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5F1E8"/>
                </a:solidFill>
                <a:latin typeface="Inter"/>
              </a:rPr>
              <a:t>Thai Watsadu / BnB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320040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7C2B3"/>
                </a:solidFill>
                <a:latin typeface="Inter"/>
              </a:rPr>
              <a:t>Cloudflare bot challenge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3200400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7C2B3"/>
                </a:solidFill>
                <a:latin typeface="Inter"/>
              </a:rPr>
              <a:t>Manual / paid residential proxy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15600" y="3200400"/>
            <a:ext cx="589788" cy="246888"/>
          </a:xfrm>
          <a:prstGeom prst="roundRect">
            <a:avLst>
              <a:gd name="adj" fmla="val 50000"/>
            </a:avLst>
          </a:prstGeom>
          <a:solidFill>
            <a:srgbClr val="2A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900" b="1">
                <a:solidFill>
                  <a:srgbClr val="FCA5A5"/>
                </a:solidFill>
                <a:latin typeface="JetBrains Mono"/>
              </a:rPr>
              <a:t>BLOCKED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3621024"/>
            <a:ext cx="11521440" cy="0"/>
          </a:xfrm>
          <a:prstGeom prst="line">
            <a:avLst/>
          </a:prstGeom>
          <a:ln w="5080">
            <a:solidFill>
              <a:srgbClr val="2A2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8640" y="365760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5F1E8"/>
                </a:solidFill>
                <a:latin typeface="Inter"/>
              </a:rPr>
              <a:t>Globalhouse/Dohome/SCG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365760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7C2B3"/>
                </a:solidFill>
                <a:latin typeface="Inter"/>
              </a:rPr>
              <a:t>SPA — initial HTML ว่าง, XHR หลัง hydrate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3657600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7C2B3"/>
                </a:solidFill>
                <a:latin typeface="Inter"/>
              </a:rPr>
              <a:t>Manual; รอ XHR reverse-engineering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515600" y="3657600"/>
            <a:ext cx="589788" cy="246888"/>
          </a:xfrm>
          <a:prstGeom prst="roundRect">
            <a:avLst>
              <a:gd name="adj" fmla="val 50000"/>
            </a:avLst>
          </a:prstGeom>
          <a:solidFill>
            <a:srgbClr val="2A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900" b="1">
                <a:solidFill>
                  <a:srgbClr val="FCA5A5"/>
                </a:solidFill>
                <a:latin typeface="JetBrains Mono"/>
              </a:rPr>
              <a:t>BLOCKED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4078224"/>
            <a:ext cx="11521440" cy="0"/>
          </a:xfrm>
          <a:prstGeom prst="line">
            <a:avLst/>
          </a:prstGeom>
          <a:ln w="5080">
            <a:solidFill>
              <a:srgbClr val="2A2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48640" y="411480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5F1E8"/>
                </a:solidFill>
                <a:latin typeface="Inter"/>
              </a:rPr>
              <a:t>ScrapingBee free 1000/mo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0" y="411480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7C2B3"/>
                </a:solidFill>
                <a:latin typeface="Inter"/>
              </a:rPr>
              <a:t>quota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4114800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7C2B3"/>
                </a:solidFill>
                <a:latin typeface="Inter"/>
              </a:rPr>
              <a:t>Weekly cron + canonical filter = ~200/mo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515600" y="4114800"/>
            <a:ext cx="201168" cy="246888"/>
          </a:xfrm>
          <a:prstGeom prst="roundRect">
            <a:avLst>
              <a:gd name="adj" fmla="val 50000"/>
            </a:avLst>
          </a:prstGeom>
          <a:solidFill>
            <a:srgbClr val="0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900" b="1">
                <a:solidFill>
                  <a:srgbClr val="5EEAD4"/>
                </a:solidFill>
                <a:latin typeface="JetBrains Mono"/>
              </a:rPr>
              <a:t>OK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48640" y="4535424"/>
            <a:ext cx="11521440" cy="0"/>
          </a:xfrm>
          <a:prstGeom prst="line">
            <a:avLst/>
          </a:prstGeom>
          <a:ln w="5080">
            <a:solidFill>
              <a:srgbClr val="2A2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48640" y="457200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5F1E8"/>
                </a:solidFill>
                <a:latin typeface="Inter"/>
              </a:rPr>
              <a:t>Apples-to-apples matching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0" y="457200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7C2B3"/>
                </a:solidFill>
                <a:latin typeface="Inter"/>
              </a:rPr>
              <a:t>different brand/size per source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4572000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7C2B3"/>
                </a:solidFill>
                <a:latin typeface="Inter"/>
              </a:rPr>
              <a:t>Option B canonical filter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515600" y="4572000"/>
            <a:ext cx="434340" cy="246888"/>
          </a:xfrm>
          <a:prstGeom prst="roundRect">
            <a:avLst>
              <a:gd name="adj" fmla="val 50000"/>
            </a:avLst>
          </a:prstGeom>
          <a:solidFill>
            <a:srgbClr val="0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900" b="1">
                <a:solidFill>
                  <a:srgbClr val="5EEAD4"/>
                </a:solidFill>
                <a:latin typeface="JetBrains Mono"/>
              </a:rPr>
              <a:t>FIXED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48640" y="4992624"/>
            <a:ext cx="11521440" cy="0"/>
          </a:xfrm>
          <a:prstGeom prst="line">
            <a:avLst/>
          </a:prstGeom>
          <a:ln w="5080">
            <a:solidFill>
              <a:srgbClr val="2A2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48640" y="502920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5F1E8"/>
                </a:solidFill>
                <a:latin typeface="Inter"/>
              </a:rPr>
              <a:t>Trend chart empty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31920" y="502920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7C2B3"/>
                </a:solidFill>
                <a:latin typeface="Inter"/>
              </a:rPr>
              <a:t>cron เพิ่งเปลี่ยนเป็น weekly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0" y="5029200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7C2B3"/>
                </a:solidFill>
                <a:latin typeface="Inter"/>
              </a:rPr>
              <a:t>passive — สะสมไป 4-7 สัปดาห์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515600" y="5029200"/>
            <a:ext cx="589788" cy="246888"/>
          </a:xfrm>
          <a:prstGeom prst="roundRect">
            <a:avLst>
              <a:gd name="adj" fmla="val 50000"/>
            </a:avLst>
          </a:prstGeom>
          <a:solidFill>
            <a:srgbClr val="2A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900" b="1">
                <a:solidFill>
                  <a:srgbClr val="FBBF24"/>
                </a:solidFill>
                <a:latin typeface="JetBrains Mono"/>
              </a:rPr>
              <a:t>WAITING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48640" y="5449824"/>
            <a:ext cx="11521440" cy="0"/>
          </a:xfrm>
          <a:prstGeom prst="line">
            <a:avLst/>
          </a:prstGeom>
          <a:ln w="5080">
            <a:solidFill>
              <a:srgbClr val="2A2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548640" y="5760720"/>
            <a:ext cx="11155680" cy="777240"/>
          </a:xfrm>
          <a:prstGeom prst="roundRect">
            <a:avLst>
              <a:gd name="adj" fmla="val 6000"/>
            </a:avLst>
          </a:prstGeom>
          <a:solidFill>
            <a:srgbClr val="1F2630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59436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5F1E8"/>
                </a:solidFill>
                <a:latin typeface="Inter"/>
              </a:rPr>
              <a:t>Reality check: ~5/10 sources ขึ้น auto, 5/10 ต้อง manual. แต่ 3/10 ที่ auto (TPSO + HomePro + MegaHome) ครอบคลุม 70% ของ material lookups จริงในงาน BoQ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D7A72"/>
                </a:solidFill>
                <a:latin typeface="JetBrains Mono"/>
              </a:rPr>
              <a:t>construction-cost-engine · pipeline deck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D7A72"/>
                </a:solidFill>
                <a:latin typeface="JetBrains Mono"/>
              </a:rPr>
              <a:t>09 / 10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10972525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BBF24"/>
                </a:solidFill>
                <a:latin typeface="JetBrains Mono"/>
              </a:rPr>
              <a:t>PIPELINE / 10 ·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5F1E8"/>
                </a:solidFill>
                <a:latin typeface="Inter"/>
              </a:rPr>
              <a:t>Next Moves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5EEAD4"/>
                </a:solidFill>
                <a:latin typeface="Inter"/>
              </a:rPr>
              <a:t>Short-term (วันนี้ → 4 สัปดาห์)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C7C2B3"/>
                </a:solidFill>
                <a:latin typeface="Inter"/>
              </a:rPr>
              <a:t>1. รัน weekly cron 4 สัปดาห์ → trend page มีข้อมูลให้ดู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C7C2B3"/>
                </a:solidFill>
                <a:latin typeface="Inter"/>
              </a:rPr>
              <a:t>2. เก็บ CGD/DIT รายไตรมาส โดย /admin/sources CSV uploader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C7C2B3"/>
                </a:solidFill>
                <a:latin typeface="Inter"/>
              </a:rPr>
              <a:t>3. ขยาย canonical จาก 15/17 → 17/17 materials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C7C2B3"/>
                </a:solidFill>
                <a:latin typeface="Inter"/>
              </a:rPr>
              <a:t>4. เขียน sourceOverrides ตัวอย่างใน 2-3 materials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BBF24"/>
                </a:solidFill>
                <a:latin typeface="Inter"/>
              </a:rPr>
              <a:t>Medium-term (4-12 สัปดาห์)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2860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C7C2B3"/>
                </a:solidFill>
                <a:latin typeface="Inter"/>
              </a:rPr>
              <a:t>5. Reverse-engineer Dohome/SCG XHR API → unblock 2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697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C7C2B3"/>
                </a:solidFill>
                <a:latin typeface="Inter"/>
              </a:rPr>
              <a:t>6. Upgrade ScrapingBee → Hobby ($49/mo) ถ้า usage &gt; 1000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1089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C7C2B3"/>
                </a:solidFill>
                <a:latin typeface="Inter"/>
              </a:rPr>
              <a:t>7. Province aggregator — median ราคา per region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5204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C7C2B3"/>
                </a:solidFill>
                <a:latin typeface="Inter"/>
              </a:rPr>
              <a:t>8. Alert: spread &gt; 50% → push to Slack webhook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97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F1E8"/>
                </a:solidFill>
                <a:latin typeface="Inter"/>
              </a:rPr>
              <a:t>Open questions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709160"/>
            <a:ext cx="3657600" cy="1280160"/>
          </a:xfrm>
          <a:prstGeom prst="roundRect">
            <a:avLst>
              <a:gd name="adj" fmla="val 6000"/>
            </a:avLst>
          </a:prstGeom>
          <a:solidFill>
            <a:srgbClr val="1F2630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920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F1E8"/>
                </a:solidFill>
                <a:latin typeface="Inter"/>
              </a:rPr>
              <a:t>Trust weighting?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303520"/>
            <a:ext cx="3291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7C2B3"/>
                </a:solidFill>
                <a:latin typeface="Inter"/>
              </a:rPr>
              <a:t>Government = 2x weight, Retail = 1x?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4709160"/>
            <a:ext cx="3657600" cy="1280160"/>
          </a:xfrm>
          <a:prstGeom prst="roundRect">
            <a:avLst>
              <a:gd name="adj" fmla="val 6000"/>
            </a:avLst>
          </a:prstGeom>
          <a:solidFill>
            <a:srgbClr val="1F2630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48920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F1E8"/>
                </a:solidFill>
                <a:latin typeface="Inter"/>
              </a:rPr>
              <a:t>Province coverage?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5303520"/>
            <a:ext cx="3291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7C2B3"/>
                </a:solidFill>
                <a:latin typeface="Inter"/>
              </a:rPr>
              <a:t>ตอนนี้ default 10 (กทม.) — ขยายกี่จังหวัด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4709160"/>
            <a:ext cx="3657600" cy="1280160"/>
          </a:xfrm>
          <a:prstGeom prst="roundRect">
            <a:avLst>
              <a:gd name="adj" fmla="val 6000"/>
            </a:avLst>
          </a:prstGeom>
          <a:solidFill>
            <a:srgbClr val="1F2630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48920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F1E8"/>
                </a:solidFill>
                <a:latin typeface="Inter"/>
              </a:rPr>
              <a:t>Public docs?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5303520"/>
            <a:ext cx="3291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7C2B3"/>
                </a:solidFill>
                <a:latin typeface="Inter"/>
              </a:rPr>
              <a:t>เปิด /api-docs สำหรับ 3rd-party + rate-limit policy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" y="6263640"/>
            <a:ext cx="11521440" cy="0"/>
          </a:xfrm>
          <a:prstGeom prst="line">
            <a:avLst/>
          </a:prstGeom>
          <a:ln w="6350">
            <a:solidFill>
              <a:srgbClr val="2A2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" y="6355080"/>
            <a:ext cx="1188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D7A72"/>
                </a:solidFill>
                <a:latin typeface="JetBrains Mono"/>
              </a:rPr>
              <a:t>Live: construction-cost-engine.steep-tooth-c420.workers.dev · Repo: Bellero-Advanced/construction-cost-engine · Last: e8b76fc (Pipeline deck)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D7A72"/>
                </a:solidFill>
                <a:latin typeface="JetBrains Mono"/>
              </a:rPr>
              <a:t>construction-cost-engine · pipeline deck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D7A72"/>
                </a:solidFill>
                <a:latin typeface="JetBrains Mono"/>
              </a:rPr>
              <a:t>10 / 10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